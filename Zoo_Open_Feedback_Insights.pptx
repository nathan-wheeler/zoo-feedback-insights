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47" r:id="rId1"/>
  </p:sldMasterIdLst>
  <p:notesMasterIdLst>
    <p:notesMasterId r:id="rId26"/>
  </p:notesMasterIdLst>
  <p:sldIdLst>
    <p:sldId id="256" r:id="rId2"/>
    <p:sldId id="275" r:id="rId3"/>
    <p:sldId id="276" r:id="rId4"/>
    <p:sldId id="263" r:id="rId5"/>
    <p:sldId id="257" r:id="rId6"/>
    <p:sldId id="281" r:id="rId7"/>
    <p:sldId id="284" r:id="rId8"/>
    <p:sldId id="289" r:id="rId9"/>
    <p:sldId id="286" r:id="rId10"/>
    <p:sldId id="290" r:id="rId11"/>
    <p:sldId id="285" r:id="rId12"/>
    <p:sldId id="291" r:id="rId13"/>
    <p:sldId id="292" r:id="rId14"/>
    <p:sldId id="277" r:id="rId15"/>
    <p:sldId id="278" r:id="rId16"/>
    <p:sldId id="280" r:id="rId17"/>
    <p:sldId id="279" r:id="rId18"/>
    <p:sldId id="282" r:id="rId19"/>
    <p:sldId id="283" r:id="rId20"/>
    <p:sldId id="294" r:id="rId21"/>
    <p:sldId id="293" r:id="rId22"/>
    <p:sldId id="287" r:id="rId23"/>
    <p:sldId id="296" r:id="rId24"/>
    <p:sldId id="29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69FFF-B304-4841-8E25-09209E831B91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0EDC0-DF5B-47E4-98DF-957532BE5B4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282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8853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140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75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4410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6560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0559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640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263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5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614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8630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BB5B521A-FEE1-4C8F-9E4D-DF2ED1D6ACDC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94005DC5-4F4A-437D-AB4C-DE3E22485D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308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48" r:id="rId1"/>
    <p:sldLayoutId id="2147484649" r:id="rId2"/>
    <p:sldLayoutId id="2147484650" r:id="rId3"/>
    <p:sldLayoutId id="2147484651" r:id="rId4"/>
    <p:sldLayoutId id="2147484652" r:id="rId5"/>
    <p:sldLayoutId id="2147484653" r:id="rId6"/>
    <p:sldLayoutId id="2147484654" r:id="rId7"/>
    <p:sldLayoutId id="2147484655" r:id="rId8"/>
    <p:sldLayoutId id="2147484656" r:id="rId9"/>
    <p:sldLayoutId id="2147484657" r:id="rId10"/>
    <p:sldLayoutId id="2147484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3E00D-4E77-5BFE-9A27-00C32091B6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Toronto Zoo Visitor Experience Insights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4E702-D3F9-07F1-6DC0-8E8E2FD589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Nathan Wheeler</a:t>
            </a:r>
          </a:p>
        </p:txBody>
      </p:sp>
    </p:spTree>
    <p:extLst>
      <p:ext uri="{BB962C8B-B14F-4D97-AF65-F5344CB8AC3E}">
        <p14:creationId xmlns:p14="http://schemas.microsoft.com/office/powerpoint/2010/main" val="108766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F1C6-CE4C-64F3-B9CF-6B568D3C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738189"/>
          </a:xfrm>
        </p:spPr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0E030-D928-ADD6-EA56-4171B82BB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6" y="1750143"/>
            <a:ext cx="10187596" cy="443982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CA" b="1" dirty="0"/>
              <a:t>Extracting top themes of visitor dissatisfaction (Topic Modeling)</a:t>
            </a:r>
          </a:p>
          <a:p>
            <a:pPr lvl="2"/>
            <a:endParaRPr lang="en-CA" dirty="0"/>
          </a:p>
          <a:p>
            <a:pPr marL="457200" indent="-457200">
              <a:buFont typeface="+mj-lt"/>
              <a:buAutoNum type="arabicPeriod"/>
            </a:pPr>
            <a:r>
              <a:rPr lang="en-CA" b="1" dirty="0"/>
              <a:t>Identifying pain points and hidden gems (Quadrant Mapping)</a:t>
            </a:r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pPr marL="457200" indent="-457200">
              <a:buFont typeface="+mj-lt"/>
              <a:buAutoNum type="arabicPeriod"/>
            </a:pPr>
            <a:r>
              <a:rPr lang="en-CA" b="1" dirty="0"/>
              <a:t>Pinpointing top areas of improvement (Key Driver Analysis)</a:t>
            </a:r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pPr marL="457200" indent="-457200">
              <a:buFont typeface="+mj-lt"/>
              <a:buAutoNum type="arabicPeriod"/>
            </a:pPr>
            <a:r>
              <a:rPr lang="en-CA" b="1" dirty="0"/>
              <a:t>Determining experience specific customer personas (Customer Segmentation)</a:t>
            </a:r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0479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DB7C5-3690-7E8F-E53A-7D89C6AE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36C5-7BE7-C201-CD52-8C2FA070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13072"/>
            <a:ext cx="9692640" cy="738189"/>
          </a:xfrm>
        </p:spPr>
        <p:txBody>
          <a:bodyPr/>
          <a:lstStyle/>
          <a:p>
            <a:r>
              <a:rPr lang="en-CA" dirty="0"/>
              <a:t>Key Takeaways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EB9F1-D81C-E61F-66AA-8B948639A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963562"/>
            <a:ext cx="10736826" cy="5633883"/>
          </a:xfrm>
        </p:spPr>
        <p:txBody>
          <a:bodyPr>
            <a:normAutofit/>
          </a:bodyPr>
          <a:lstStyle/>
          <a:p>
            <a:r>
              <a:rPr lang="en-CA" dirty="0"/>
              <a:t>Across all analyses, customers reported being most frustrated with the core zoo experience</a:t>
            </a:r>
          </a:p>
          <a:p>
            <a:r>
              <a:rPr lang="en-CA" dirty="0"/>
              <a:t>In particular, the largest increases in zoo recommendations and visits could be gained from:</a:t>
            </a:r>
          </a:p>
          <a:p>
            <a:pPr lvl="1"/>
            <a:r>
              <a:rPr lang="en-CA" dirty="0"/>
              <a:t>improving animal visibility, availability and variety</a:t>
            </a:r>
          </a:p>
          <a:p>
            <a:pPr lvl="1"/>
            <a:r>
              <a:rPr lang="en-CA" dirty="0"/>
              <a:t>reducing the impact of construction closures and the overall admission fee</a:t>
            </a:r>
          </a:p>
          <a:p>
            <a:r>
              <a:rPr lang="en-CA" dirty="0"/>
              <a:t>Further, the best subareas to the zoo to target for such improvements would be:</a:t>
            </a:r>
          </a:p>
          <a:p>
            <a:pPr lvl="1"/>
            <a:r>
              <a:rPr lang="en-US" dirty="0"/>
              <a:t>The African Savannah</a:t>
            </a:r>
            <a:endParaRPr lang="en-US" sz="1600" dirty="0"/>
          </a:p>
          <a:p>
            <a:pPr lvl="1"/>
            <a:r>
              <a:rPr lang="en-US" dirty="0"/>
              <a:t>The Eurasian Wilds</a:t>
            </a:r>
          </a:p>
          <a:p>
            <a:pPr lvl="1"/>
            <a:r>
              <a:rPr lang="en-US" dirty="0"/>
              <a:t>The Tundra Trek</a:t>
            </a:r>
          </a:p>
          <a:p>
            <a:r>
              <a:rPr lang="en-CA" dirty="0"/>
              <a:t>However, these changes will be slow and costly. In the meantime, lower-hanging fruit changes can be made to fix zoo amenities.</a:t>
            </a:r>
          </a:p>
          <a:p>
            <a:r>
              <a:rPr lang="en-CA" dirty="0"/>
              <a:t>In this area, the largest increases in zoo recommendations and visits could be gained from improving:</a:t>
            </a:r>
          </a:p>
          <a:p>
            <a:pPr lvl="1"/>
            <a:r>
              <a:rPr lang="en-CA" dirty="0"/>
              <a:t>Food services (The clear standout).</a:t>
            </a:r>
          </a:p>
          <a:p>
            <a:pPr lvl="1"/>
            <a:r>
              <a:rPr lang="en-CA" dirty="0"/>
              <a:t>Operational Reliability (e.g. </a:t>
            </a:r>
            <a:r>
              <a:rPr lang="en-CA" dirty="0" err="1"/>
              <a:t>Zoomobile</a:t>
            </a:r>
            <a:r>
              <a:rPr lang="en-CA" dirty="0"/>
              <a:t> delays)</a:t>
            </a:r>
          </a:p>
          <a:p>
            <a:endParaRPr lang="en-CA" dirty="0"/>
          </a:p>
          <a:p>
            <a:pPr lvl="1"/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818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B0F3-AD96-A692-099C-DF21086E4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Extracting Top Themes of Customer Dissatisfaction </a:t>
            </a:r>
          </a:p>
        </p:txBody>
      </p:sp>
    </p:spTree>
    <p:extLst>
      <p:ext uri="{BB962C8B-B14F-4D97-AF65-F5344CB8AC3E}">
        <p14:creationId xmlns:p14="http://schemas.microsoft.com/office/powerpoint/2010/main" val="400680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546F-28FD-5B4F-5008-7A4D83EC9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Complaint Themes</a:t>
            </a:r>
            <a:r>
              <a:rPr lang="en-CA" sz="3600"/>
              <a:t>: </a:t>
            </a:r>
            <a:endParaRPr lang="en-C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5320-1C44-A58D-6E77-206B080E6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5" y="1609724"/>
            <a:ext cx="3746087" cy="4309295"/>
          </a:xfrm>
        </p:spPr>
        <p:txBody>
          <a:bodyPr>
            <a:normAutofit/>
          </a:bodyPr>
          <a:lstStyle/>
          <a:p>
            <a:r>
              <a:rPr lang="en-US" dirty="0"/>
              <a:t>Open feedback entries were cleaned and grouped into topics using topic modeling (</a:t>
            </a:r>
            <a:r>
              <a:rPr lang="en-US" dirty="0" err="1"/>
              <a:t>BERTopic</a:t>
            </a:r>
            <a:r>
              <a:rPr lang="en-US" dirty="0"/>
              <a:t>).</a:t>
            </a:r>
          </a:p>
          <a:p>
            <a:r>
              <a:rPr lang="en-CA" dirty="0"/>
              <a:t>High-friction topics were then determined using sentiment analysis.</a:t>
            </a:r>
          </a:p>
          <a:p>
            <a:r>
              <a:rPr lang="en-CA" dirty="0"/>
              <a:t>These high-friction topics were then grouped semantically into 7 themes of customer dissatisfaction.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571125-6476-255F-7A6B-CB5EB4527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874721"/>
              </p:ext>
            </p:extLst>
          </p:nvPr>
        </p:nvGraphicFramePr>
        <p:xfrm>
          <a:off x="4395020" y="1609724"/>
          <a:ext cx="6726642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953">
                  <a:extLst>
                    <a:ext uri="{9D8B030D-6E8A-4147-A177-3AD203B41FA5}">
                      <a16:colId xmlns:a16="http://schemas.microsoft.com/office/drawing/2014/main" val="679255139"/>
                    </a:ext>
                  </a:extLst>
                </a:gridCol>
                <a:gridCol w="3342968">
                  <a:extLst>
                    <a:ext uri="{9D8B030D-6E8A-4147-A177-3AD203B41FA5}">
                      <a16:colId xmlns:a16="http://schemas.microsoft.com/office/drawing/2014/main" val="2689113629"/>
                    </a:ext>
                  </a:extLst>
                </a:gridCol>
                <a:gridCol w="1446721">
                  <a:extLst>
                    <a:ext uri="{9D8B030D-6E8A-4147-A177-3AD203B41FA5}">
                      <a16:colId xmlns:a16="http://schemas.microsoft.com/office/drawing/2014/main" val="1793936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Complaint 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Prominent Sub-Topics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% of Total Respondents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594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Mobility,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Steep terrain, wheelchair and stroller access, narrow paths, lack of automatic doors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4.96%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10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Navigation, Information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Lack of signage indicating directions or closures, lack of website info on displays/closures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1.71%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00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Animal Availability,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Animals not available or visible in exhibits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7.88%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8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Construction, Closures,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Construction, subarea closure limiting access/experience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6.41%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58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Amenities, Comfort, Cleanliness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Washrooms messy or unavailable, food services expensive, slow, limited or unsatisfactory.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8.77%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415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Cost, Value,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Admission price too expensive, value for cost too high, parking too 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2.15%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51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200" dirty="0"/>
                        <a:t>Operational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 err="1"/>
                        <a:t>Zoomobile</a:t>
                      </a:r>
                      <a:r>
                        <a:rPr lang="en-CA" sz="1200" dirty="0"/>
                        <a:t> wait times and breakdowns, parking and ticket payment issues.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dirty="0"/>
                        <a:t>6.95%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77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56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CA7B-8B22-3493-24AF-8B24EE26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54EB-C610-F9D0-ACAC-001C5FA9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Identifying Popular Pain Points</a:t>
            </a:r>
          </a:p>
        </p:txBody>
      </p:sp>
    </p:spTree>
    <p:extLst>
      <p:ext uri="{BB962C8B-B14F-4D97-AF65-F5344CB8AC3E}">
        <p14:creationId xmlns:p14="http://schemas.microsoft.com/office/powerpoint/2010/main" val="3211168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1B35D-9F5D-858F-C69A-F53DCFE4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D3AB-BF20-447E-9DCA-DB7C0CD1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Pain Points: Complaint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768F3-A373-6F96-8B11-15248192B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8" y="1016927"/>
            <a:ext cx="2984831" cy="5256111"/>
          </a:xfrm>
        </p:spPr>
        <p:txBody>
          <a:bodyPr>
            <a:normAutofit/>
          </a:bodyPr>
          <a:lstStyle/>
          <a:p>
            <a:r>
              <a:rPr lang="en-US" sz="1600" dirty="0"/>
              <a:t>An average satisfaction vs prevalence matrix highlights </a:t>
            </a:r>
            <a:r>
              <a:rPr lang="en-US" sz="1600" dirty="0" err="1"/>
              <a:t>highlights</a:t>
            </a:r>
            <a:r>
              <a:rPr lang="en-US" sz="1600" dirty="0"/>
              <a:t> possible pain points to prioritize among complaint themes. </a:t>
            </a:r>
          </a:p>
          <a:p>
            <a:r>
              <a:rPr lang="en-US" sz="1600" dirty="0"/>
              <a:t>The X-axis is the percentage of respondents who had a particular type of complaint</a:t>
            </a:r>
          </a:p>
          <a:p>
            <a:r>
              <a:rPr lang="en-US" sz="1600" dirty="0"/>
              <a:t>The Y-axis is the average satisfaction of customers who brought up a given complaint. </a:t>
            </a:r>
          </a:p>
          <a:p>
            <a:r>
              <a:rPr lang="en-US" sz="1600" dirty="0"/>
              <a:t>The lower right quadrant shows complaints that are highly common and shared by the most dissatisfied customers.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AFC0F3-776A-4E0A-C06A-B897492B5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35" y="778531"/>
            <a:ext cx="7955372" cy="557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66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354A-8FCE-14B2-963C-2C6C6A28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7656-4AD7-081B-A22B-4696FEBE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Pain Points: Complaint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CD505-F0F9-3E0C-8DB2-8D5389DBA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8" y="1016927"/>
            <a:ext cx="2984831" cy="5256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Notable Pain Points (lower right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Animal Availability and Visibility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Construction Closures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DE34E5-6EE3-BB4C-9472-D5B7E794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135" y="778531"/>
            <a:ext cx="7955372" cy="557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5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533E-93E9-08C6-7164-96B000D9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CBAAB-68B4-BC35-CA4B-D3E620ADE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Pain Points: Zoo Sub-Areas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B83D-90A2-0F0A-B5CB-B0BF0FB5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8" y="1016927"/>
            <a:ext cx="2984831" cy="5256111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Similarly, a satisfaction by popularity matrix can highlight pain points and hidden gems among zoo subareas.</a:t>
            </a:r>
          </a:p>
          <a:p>
            <a:r>
              <a:rPr lang="en-US" sz="1600" dirty="0"/>
              <a:t>The X-axis is the percentage of respondents attended a given subarea.</a:t>
            </a:r>
          </a:p>
          <a:p>
            <a:r>
              <a:rPr lang="en-US" sz="1600" dirty="0"/>
              <a:t>The Y-axis is reported satisfaction </a:t>
            </a:r>
            <a:r>
              <a:rPr lang="en-US" sz="1600" dirty="0" err="1"/>
              <a:t>respondants</a:t>
            </a:r>
            <a:r>
              <a:rPr lang="en-US" sz="1600" dirty="0"/>
              <a:t> had for that specific subarea.</a:t>
            </a:r>
          </a:p>
          <a:p>
            <a:r>
              <a:rPr lang="en-US" sz="1600" dirty="0"/>
              <a:t>The lower right quadrant shows well attended, but disliked sub areas (pain points</a:t>
            </a:r>
          </a:p>
          <a:p>
            <a:r>
              <a:rPr lang="en-US" sz="1600" dirty="0"/>
              <a:t>the top left shows unattended but liked subareas (hidden gems)</a:t>
            </a:r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6B4B90-70A4-02B2-7645-6DB92B6BB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49" y="899996"/>
            <a:ext cx="7813265" cy="54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71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CDD6-8E62-64A2-1097-FD321596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C20C-4B8F-5323-60B0-1CFF18BF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Pain Points: Zoo Sub-Areas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1AB69-BD2A-6A2F-2012-E08A70CE0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8" y="1016927"/>
            <a:ext cx="2984831" cy="5256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Pain Points (lower right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Eurasian Wilds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Mayan Temple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Canadian Domain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Hidden Gems (upper left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TundraAir</a:t>
            </a:r>
            <a:r>
              <a:rPr lang="en-US" sz="1600" dirty="0"/>
              <a:t> Ride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Splash Island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Greenhouse</a:t>
            </a:r>
          </a:p>
          <a:p>
            <a:pPr marL="342900" indent="-342900">
              <a:buFont typeface="+mj-lt"/>
              <a:buAutoNum type="arabicPeriod"/>
            </a:pPr>
            <a:endParaRPr lang="en-US" sz="1600" b="1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20ED6A-E5CC-4D62-73BE-1EE7C4BA2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49" y="899996"/>
            <a:ext cx="7813265" cy="548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370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0E69-4038-EB77-4EE1-5D76E998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345B-299D-6457-3594-96B5D45D4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Pain Points: Global Satisfaction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22BB-89A4-9805-5F8F-928B7D6B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8" y="1016927"/>
            <a:ext cx="2984831" cy="5256111"/>
          </a:xfrm>
        </p:spPr>
        <p:txBody>
          <a:bodyPr>
            <a:normAutofit/>
          </a:bodyPr>
          <a:lstStyle/>
          <a:p>
            <a:r>
              <a:rPr lang="en-US" sz="1600" dirty="0"/>
              <a:t>Finally, I highlighted pain points and hidden gems among sub-features of global satisfaction.  </a:t>
            </a:r>
          </a:p>
          <a:p>
            <a:r>
              <a:rPr lang="en-US" sz="1600" dirty="0"/>
              <a:t>The X-axis is the percentage of people who rated a given sub-feature, as a proxy for whether users experienced that areas.</a:t>
            </a:r>
          </a:p>
          <a:p>
            <a:r>
              <a:rPr lang="en-US" sz="1600" dirty="0"/>
              <a:t>The Y-axis is the same as before. </a:t>
            </a:r>
          </a:p>
          <a:p>
            <a:r>
              <a:rPr lang="en-US" sz="1600" dirty="0"/>
              <a:t>The bottom right quadrant shows near universal pain points of the zoo experience</a:t>
            </a:r>
          </a:p>
          <a:p>
            <a:r>
              <a:rPr lang="en-US" sz="1600" dirty="0"/>
              <a:t>While the top left shows experience-specific hidden gems. 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785E7-63E4-689F-395C-083F8A87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49" y="865239"/>
            <a:ext cx="7689627" cy="53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69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30CA7-DE69-145B-16D3-976C0789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BD77A-30FB-328C-3D3A-CFFB5A811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Pain Points: Global Satisfaction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6FFBD-9D1C-52D2-6D31-2E4CC550F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618" y="1016927"/>
            <a:ext cx="2984831" cy="5256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Pain Points (lower right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Value for Cost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Washrooms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Parking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Signage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Hidden Gems (upper left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Volunteer/Employee Helpfulness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Green Policies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Accessibility Policies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E1CEF-20C7-D618-917C-ECE1727E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49" y="865239"/>
            <a:ext cx="7689627" cy="539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680B9-0393-8355-4AE0-AE7ED7E9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1F29-BE24-2C1F-3DA0-25545A187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738189"/>
          </a:xfrm>
        </p:spPr>
        <p:txBody>
          <a:bodyPr/>
          <a:lstStyle/>
          <a:p>
            <a:r>
              <a:rPr lang="en-CA" dirty="0"/>
              <a:t>Pain Points: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8B71F-5AC5-951B-94A7-104D0E1E2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3589544"/>
            <a:ext cx="10736826" cy="2981632"/>
          </a:xfrm>
        </p:spPr>
        <p:txBody>
          <a:bodyPr>
            <a:normAutofit/>
          </a:bodyPr>
          <a:lstStyle/>
          <a:p>
            <a:r>
              <a:rPr lang="en-CA" dirty="0"/>
              <a:t>Customers highlight pain points and hidden gems.</a:t>
            </a:r>
          </a:p>
          <a:p>
            <a:r>
              <a:rPr lang="en-CA" dirty="0"/>
              <a:t>However, we do not know the importance of these concerns.</a:t>
            </a:r>
          </a:p>
          <a:p>
            <a:r>
              <a:rPr lang="en-CA" dirty="0"/>
              <a:t>It is unclear how much increasing satisfaction in any domain will improve overall likelihood to recommend (or return to) the zoo. </a:t>
            </a:r>
          </a:p>
          <a:p>
            <a:r>
              <a:rPr lang="en-CA" dirty="0"/>
              <a:t>Key driver analysis will be conducted to translate pain points and hidden gems into areas of improvement.</a:t>
            </a:r>
            <a:endParaRPr lang="en-CA" b="1" dirty="0"/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BE9CA8-8F1D-BEEE-22DC-6C321ED51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25130"/>
              </p:ext>
            </p:extLst>
          </p:nvPr>
        </p:nvGraphicFramePr>
        <p:xfrm>
          <a:off x="1579716" y="1117183"/>
          <a:ext cx="8127999" cy="2227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5768">
                  <a:extLst>
                    <a:ext uri="{9D8B030D-6E8A-4147-A177-3AD203B41FA5}">
                      <a16:colId xmlns:a16="http://schemas.microsoft.com/office/drawing/2014/main" val="6793462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98514301"/>
                    </a:ext>
                  </a:extLst>
                </a:gridCol>
                <a:gridCol w="3464231">
                  <a:extLst>
                    <a:ext uri="{9D8B030D-6E8A-4147-A177-3AD203B41FA5}">
                      <a16:colId xmlns:a16="http://schemas.microsoft.com/office/drawing/2014/main" val="1049987793"/>
                    </a:ext>
                  </a:extLst>
                </a:gridCol>
              </a:tblGrid>
              <a:tr h="306780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Pain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Hidden Gems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9414"/>
                  </a:ext>
                </a:extLst>
              </a:tr>
              <a:tr h="306780">
                <a:tc>
                  <a:txBody>
                    <a:bodyPr/>
                    <a:lstStyle/>
                    <a:p>
                      <a:r>
                        <a:rPr lang="en-CA" sz="1200" dirty="0"/>
                        <a:t>Complaint Themes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Animal Availability and Visibility</a:t>
                      </a:r>
                      <a:r>
                        <a:rPr lang="en-CA" sz="1200" dirty="0"/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Construction Closures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-</a:t>
                      </a:r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92030"/>
                  </a:ext>
                </a:extLst>
              </a:tr>
              <a:tr h="306780">
                <a:tc>
                  <a:txBody>
                    <a:bodyPr/>
                    <a:lstStyle/>
                    <a:p>
                      <a:r>
                        <a:rPr lang="en-CA" sz="1200" dirty="0"/>
                        <a:t>Zoo Sub-Area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Eurasian Wilds</a:t>
                      </a:r>
                      <a:r>
                        <a:rPr lang="en-US" sz="1100" dirty="0"/>
                        <a:t>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Mayan Temple,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Canadian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 err="1"/>
                        <a:t>TundraAir</a:t>
                      </a:r>
                      <a:r>
                        <a:rPr lang="en-US" sz="1200" dirty="0"/>
                        <a:t> Ride,</a:t>
                      </a:r>
                      <a:endParaRPr lang="en-US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Splash Island,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Greenhouse,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554311"/>
                  </a:ext>
                </a:extLst>
              </a:tr>
              <a:tr h="306780">
                <a:tc>
                  <a:txBody>
                    <a:bodyPr/>
                    <a:lstStyle/>
                    <a:p>
                      <a:r>
                        <a:rPr lang="en-CA" sz="1200" dirty="0"/>
                        <a:t>Global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Value for Cost,</a:t>
                      </a:r>
                      <a:endParaRPr lang="en-US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Washrooms,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Parking,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Signage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Volunteer/Employee Helpfulness,</a:t>
                      </a:r>
                      <a:endParaRPr lang="en-US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Green Policies,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Accessibility Policies</a:t>
                      </a:r>
                    </a:p>
                    <a:p>
                      <a:endParaRPr lang="en-C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90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672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8F1F-1109-E0E0-49FC-F9C3E19F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65A8-8C10-3077-4BCC-B9ED10E4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Pinpointing Areas of Improvement</a:t>
            </a:r>
          </a:p>
        </p:txBody>
      </p:sp>
    </p:spTree>
    <p:extLst>
      <p:ext uri="{BB962C8B-B14F-4D97-AF65-F5344CB8AC3E}">
        <p14:creationId xmlns:p14="http://schemas.microsoft.com/office/powerpoint/2010/main" val="1599940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A3A81-FF2B-F006-02BF-8043BF90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D568B-B383-0D27-AB90-64A72AD4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Areas of Improvement: Complaint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13ED-EE27-0210-DA4F-5C4E4F0A5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21" y="1337187"/>
            <a:ext cx="2984831" cy="5256111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I estimated how much more affected visitors would be likely to recommend the zoo if their complaints were addressed. </a:t>
            </a:r>
          </a:p>
          <a:p>
            <a:r>
              <a:rPr lang="en-US" sz="1600" dirty="0"/>
              <a:t>The X-axis is the percentage of respondents who had a particular type of complaint</a:t>
            </a:r>
          </a:p>
          <a:p>
            <a:r>
              <a:rPr lang="en-US" sz="1600" dirty="0"/>
              <a:t>The Y-axis is how much more those respondents would be likely to recommend the zoo if their complaints were addressed. </a:t>
            </a:r>
          </a:p>
          <a:p>
            <a:r>
              <a:rPr lang="en-US" sz="1600" dirty="0"/>
              <a:t>The top right quadrant shows complaints that are highly common and that would lead to the largest % increase in zoo recommendations if addressed.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A8BBF7-AD6F-4231-3D5E-E90539771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06" y="1053934"/>
            <a:ext cx="7660708" cy="53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84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40C5-6674-CA3D-270F-482BFBDE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EA28-0FB0-B326-E68E-1BFA0643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Areas of Improvement: Complaint 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1CB-C055-35CE-7BE8-68CCF7010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21" y="1337187"/>
            <a:ext cx="2984831" cy="5256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Top 3 Areas of Improvement (top right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Animal Availability and Visibility</a:t>
            </a:r>
          </a:p>
          <a:p>
            <a:pPr lvl="1"/>
            <a:r>
              <a:rPr lang="en-US" sz="1400" dirty="0"/>
              <a:t>(est. 1.49% lift in total recommendations if addressed.)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Construction Closures</a:t>
            </a:r>
          </a:p>
          <a:p>
            <a:pPr lvl="1"/>
            <a:r>
              <a:rPr lang="en-US" sz="1400" dirty="0"/>
              <a:t>(est. 1.16% lift in total recommendations if addressed.)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Operational Reliability</a:t>
            </a:r>
          </a:p>
          <a:p>
            <a:pPr lvl="1"/>
            <a:r>
              <a:rPr lang="en-US" sz="1400" dirty="0"/>
              <a:t>(est. .88% lift in total recommendations if addressed.)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7AC3B-F54E-2A4F-E52F-FA87A310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606" y="1053934"/>
            <a:ext cx="7660708" cy="53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60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84CC0-3D0A-7E17-BD2B-35CFEF86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5E7D-C033-DEB4-CC1D-212E02B9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Areas of Improvement: Zoo Subareas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7BB16-C7C3-10E9-B4C1-B88539D07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3" y="1242250"/>
            <a:ext cx="3048000" cy="5129053"/>
          </a:xfrm>
        </p:spPr>
        <p:txBody>
          <a:bodyPr>
            <a:normAutofit/>
          </a:bodyPr>
          <a:lstStyle/>
          <a:p>
            <a:r>
              <a:rPr lang="en-US" sz="1600" dirty="0"/>
              <a:t>The same analysis was repeated to see how much every point increase in satisfaction with a given zoo subarea would increase recommendation likelihood.</a:t>
            </a:r>
          </a:p>
          <a:p>
            <a:r>
              <a:rPr lang="en-US" sz="1600" dirty="0"/>
              <a:t>The X-axis represents the percentage of survey respondents who reported by dissatisfied with a given subarea</a:t>
            </a:r>
          </a:p>
          <a:p>
            <a:r>
              <a:rPr lang="en-US" sz="1600" dirty="0"/>
              <a:t>The Y-axis represents how much more likely those respondents would be to recommend the zoo if their satisfaction with the zoo increase by 1 point (out of 5).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933F1-B8AC-9F1E-8CDE-994A37807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93" y="998685"/>
            <a:ext cx="7844103" cy="55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90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3968-A963-0D7B-BB4C-625CC225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7017-62A7-D83A-BF64-C7AB0552C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Areas of Improvement: Zoo Subareas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F132D-016B-8365-6D05-8C45083FB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3" y="1242250"/>
            <a:ext cx="3048000" cy="5129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Top 3 Areas of Improvement (top right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African Savannah</a:t>
            </a:r>
          </a:p>
          <a:p>
            <a:pPr lvl="1"/>
            <a:r>
              <a:rPr lang="en-US" sz="1400" dirty="0"/>
              <a:t>(est. 2.42% lift in total recommendations per 1 point increase in satisfaction.)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Eurasian Wilds</a:t>
            </a:r>
          </a:p>
          <a:p>
            <a:pPr lvl="1"/>
            <a:r>
              <a:rPr lang="en-US" sz="1400" dirty="0"/>
              <a:t>(est. 2.31% lift in total recommendations per 1 point increase in satisfaction.)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Tundra Trek</a:t>
            </a:r>
          </a:p>
          <a:p>
            <a:pPr lvl="1"/>
            <a:r>
              <a:rPr lang="en-US" sz="1400" dirty="0"/>
              <a:t>(est. 2.30% lift in total recommendations per 1 point increase in satisfaction.)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0A0E2-C534-A6A6-DC82-19048D231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93" y="998685"/>
            <a:ext cx="7844103" cy="55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40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F661-F3E7-925B-7DAF-D06D7D6D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8793-A64E-CEAB-B275-94027DE5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Areas of Improvement: Global Satisfaction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5201D-4BDC-3539-9982-B5EB564AE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20" y="1464246"/>
            <a:ext cx="3048000" cy="3746852"/>
          </a:xfrm>
        </p:spPr>
        <p:txBody>
          <a:bodyPr>
            <a:normAutofit/>
          </a:bodyPr>
          <a:lstStyle/>
          <a:p>
            <a:r>
              <a:rPr lang="en-US" sz="1600" dirty="0"/>
              <a:t>Similarly, I examined which sub-features of global satisfaction with the zoo could be the most impactful if addressed.</a:t>
            </a:r>
          </a:p>
          <a:p>
            <a:r>
              <a:rPr lang="en-US" sz="1600" dirty="0"/>
              <a:t>I estimated how much every point increase in satisfaction with a given sub-feature would increase recommendation likelihood.</a:t>
            </a:r>
          </a:p>
          <a:p>
            <a:r>
              <a:rPr lang="en-US" sz="1600" dirty="0"/>
              <a:t>The X and Y axes are marked the same as before. </a:t>
            </a:r>
          </a:p>
          <a:p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DB250B-575A-F037-6693-14AC78131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962" y="865239"/>
            <a:ext cx="7855206" cy="550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31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7D1C-8756-1351-C407-9F77BF425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EFF05-4617-3AA7-9E43-9B6A4231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4" y="264702"/>
            <a:ext cx="10502228" cy="600537"/>
          </a:xfrm>
        </p:spPr>
        <p:txBody>
          <a:bodyPr>
            <a:noAutofit/>
          </a:bodyPr>
          <a:lstStyle/>
          <a:p>
            <a:r>
              <a:rPr lang="en-CA" sz="3600" dirty="0"/>
              <a:t>Areas of Improvement: Global Satisfaction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6ED28-1E4E-DD07-932C-B19770B61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20" y="1464246"/>
            <a:ext cx="3048000" cy="37468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Top 3 Areas of Improvement (top right quadrant):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Value for Cost</a:t>
            </a:r>
          </a:p>
          <a:p>
            <a:pPr lvl="1"/>
            <a:r>
              <a:rPr lang="en-US" sz="1400" dirty="0"/>
              <a:t>(est. 6.57% lift in total recommendations per 1 point increase in satisfaction.)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Exhibit Variety</a:t>
            </a:r>
          </a:p>
          <a:p>
            <a:pPr lvl="1"/>
            <a:r>
              <a:rPr lang="en-US" sz="1400" dirty="0"/>
              <a:t>(est. 3.12% lift in total recommendations per 1 point increase in satisfaction.)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Food Services</a:t>
            </a:r>
          </a:p>
          <a:p>
            <a:pPr lvl="1"/>
            <a:r>
              <a:rPr lang="en-US" sz="1400" dirty="0"/>
              <a:t>(est. 1.37% lift in total recommendations per 1 point increase in satisfaction.)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B24E8D-4EFA-E4E9-C82D-7D18F0F6A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962" y="865239"/>
            <a:ext cx="7855206" cy="550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69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76D9-F578-B83E-CAE4-695C11F2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43C5-C95A-941B-2202-4FC5A476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738189"/>
          </a:xfrm>
        </p:spPr>
        <p:txBody>
          <a:bodyPr/>
          <a:lstStyle/>
          <a:p>
            <a:r>
              <a:rPr lang="en-CA" dirty="0"/>
              <a:t>Areas of Improvement: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C82AF-7B2A-A29B-78DD-4CB12A445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3883742"/>
            <a:ext cx="10736826" cy="2576052"/>
          </a:xfrm>
        </p:spPr>
        <p:txBody>
          <a:bodyPr>
            <a:normAutofit/>
          </a:bodyPr>
          <a:lstStyle/>
          <a:p>
            <a:r>
              <a:rPr lang="en-CA" dirty="0"/>
              <a:t>Targeting the following areas of improvement would have the greatest increase in overall zoo recommendations (and perhaps visits).</a:t>
            </a:r>
          </a:p>
          <a:p>
            <a:r>
              <a:rPr lang="en-CA" dirty="0"/>
              <a:t>However, customer concerns will depend on individual experiences at the zoo.</a:t>
            </a:r>
          </a:p>
          <a:p>
            <a:pPr lvl="1"/>
            <a:r>
              <a:rPr lang="en-CA" dirty="0"/>
              <a:t>For example, food service satisfaction would be more important to customers who plan to each lunch at the zoo.</a:t>
            </a:r>
          </a:p>
          <a:p>
            <a:r>
              <a:rPr lang="en-CA" dirty="0"/>
              <a:t>Thus, I will further segment customers into experience-specific personas.</a:t>
            </a:r>
          </a:p>
          <a:p>
            <a:pPr marL="457200" indent="-457200">
              <a:buFont typeface="+mj-lt"/>
              <a:buAutoNum type="arabicPeriod"/>
            </a:pPr>
            <a:endParaRPr lang="en-CA" b="1" dirty="0"/>
          </a:p>
          <a:p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98FB6A-86DF-5B5E-B8CB-48657F5D3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219019"/>
              </p:ext>
            </p:extLst>
          </p:nvPr>
        </p:nvGraphicFramePr>
        <p:xfrm>
          <a:off x="3282336" y="1344554"/>
          <a:ext cx="4663768" cy="2227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5768">
                  <a:extLst>
                    <a:ext uri="{9D8B030D-6E8A-4147-A177-3AD203B41FA5}">
                      <a16:colId xmlns:a16="http://schemas.microsoft.com/office/drawing/2014/main" val="6793462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98514301"/>
                    </a:ext>
                  </a:extLst>
                </a:gridCol>
              </a:tblGrid>
              <a:tr h="306780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/>
                        <a:t>Areas of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9414"/>
                  </a:ext>
                </a:extLst>
              </a:tr>
              <a:tr h="306780">
                <a:tc>
                  <a:txBody>
                    <a:bodyPr/>
                    <a:lstStyle/>
                    <a:p>
                      <a:r>
                        <a:rPr lang="en-CA" sz="1200" dirty="0"/>
                        <a:t>Complaint Themes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Animal Availability and Visibility</a:t>
                      </a:r>
                      <a:r>
                        <a:rPr lang="en-CA" sz="1200" dirty="0"/>
                        <a:t>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Construction Closures,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Operational Reliability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292030"/>
                  </a:ext>
                </a:extLst>
              </a:tr>
              <a:tr h="306780">
                <a:tc>
                  <a:txBody>
                    <a:bodyPr/>
                    <a:lstStyle/>
                    <a:p>
                      <a:r>
                        <a:rPr lang="en-CA" sz="1200" dirty="0"/>
                        <a:t>Zoo Sub-Area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African Savannah,</a:t>
                      </a:r>
                      <a:endParaRPr lang="en-US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Eurasian Wilds,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Tundra Trek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554311"/>
                  </a:ext>
                </a:extLst>
              </a:tr>
              <a:tr h="306780">
                <a:tc>
                  <a:txBody>
                    <a:bodyPr/>
                    <a:lstStyle/>
                    <a:p>
                      <a:r>
                        <a:rPr lang="en-CA" sz="1200" dirty="0"/>
                        <a:t>Global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Value for Cost,</a:t>
                      </a:r>
                      <a:endParaRPr lang="en-US" sz="1100" dirty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Exhibit Variety,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/>
                        <a:t>Food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90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862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02E2-5954-9ED7-55EC-EF9F459E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1A52-55A6-9D0A-23CF-34032DF4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Segmenting Customers into Distinct Personas</a:t>
            </a:r>
          </a:p>
        </p:txBody>
      </p:sp>
    </p:spTree>
    <p:extLst>
      <p:ext uri="{BB962C8B-B14F-4D97-AF65-F5344CB8AC3E}">
        <p14:creationId xmlns:p14="http://schemas.microsoft.com/office/powerpoint/2010/main" val="2467872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330F5-AC24-B48E-7882-503D1C35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27B9-11B6-A3CC-D994-B0CDF725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03239"/>
            <a:ext cx="9692640" cy="738189"/>
          </a:xfrm>
        </p:spPr>
        <p:txBody>
          <a:bodyPr/>
          <a:lstStyle/>
          <a:p>
            <a:r>
              <a:rPr lang="en-CA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05F2-2718-682F-E19B-731599C2E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4745848"/>
            <a:ext cx="10736826" cy="211215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/>
              <a:t>4 distinct customer personas were determined using Latent Class Analysis: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Smooth Visit customers were globally satisfied across all domains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Value-Sensitive, Low Engagement customers wanted better value for cost, exhibit variety and parking experiences.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Engaged but frustrated customers were particularly dissatisfied with food services, gift shops and washrooms. 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High Friction customers were dissatisfied with all aspects of their zoo experience</a:t>
            </a:r>
          </a:p>
          <a:p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F4A30E-AF8C-AE65-8D81-B57631A24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76" y="905008"/>
            <a:ext cx="10773941" cy="384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45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8324-C73F-49E0-BA0A-88F31131D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6580-5559-E5D6-2217-F0ECE1A7B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94197"/>
            <a:ext cx="9692640" cy="738189"/>
          </a:xfrm>
        </p:spPr>
        <p:txBody>
          <a:bodyPr/>
          <a:lstStyle/>
          <a:p>
            <a:r>
              <a:rPr lang="en-CA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33C35-2957-6E19-AB14-0EBFA07C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3883741"/>
            <a:ext cx="10736826" cy="2851356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The majority of the sample is made up by smooth-visit customers and only a small minority represent high-friction customers. </a:t>
            </a:r>
          </a:p>
          <a:p>
            <a:r>
              <a:rPr lang="en-CA" dirty="0"/>
              <a:t>However, a significant portion of customers were either value-sensitive, low engagement or engaged but frustrated by zoo amenities. </a:t>
            </a:r>
          </a:p>
          <a:p>
            <a:r>
              <a:rPr lang="en-CA" dirty="0"/>
              <a:t>Addressing the respective concerns of one or both of these personas could increase zoo recommendations. </a:t>
            </a:r>
          </a:p>
          <a:p>
            <a:r>
              <a:rPr lang="en-CA" dirty="0"/>
              <a:t>Value-sensitive, low engagement concerns (Exhibit Variety, Value for Cost) may be harder to implement.</a:t>
            </a:r>
          </a:p>
          <a:p>
            <a:r>
              <a:rPr lang="en-CA" dirty="0"/>
              <a:t>Therefore, engaged, but frustrated customers might be the easiest to address by improving amenity quality (Food Services, Washrooms, Gift Shops). </a:t>
            </a:r>
          </a:p>
          <a:p>
            <a:endParaRPr lang="en-CA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DC8AA-7AE4-EE61-9119-D6A5DA250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14724"/>
              </p:ext>
            </p:extLst>
          </p:nvPr>
        </p:nvGraphicFramePr>
        <p:xfrm>
          <a:off x="836723" y="1300480"/>
          <a:ext cx="9968924" cy="212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132">
                  <a:extLst>
                    <a:ext uri="{9D8B030D-6E8A-4147-A177-3AD203B41FA5}">
                      <a16:colId xmlns:a16="http://schemas.microsoft.com/office/drawing/2014/main" val="3751322580"/>
                    </a:ext>
                  </a:extLst>
                </a:gridCol>
                <a:gridCol w="1424132">
                  <a:extLst>
                    <a:ext uri="{9D8B030D-6E8A-4147-A177-3AD203B41FA5}">
                      <a16:colId xmlns:a16="http://schemas.microsoft.com/office/drawing/2014/main" val="4094602668"/>
                    </a:ext>
                  </a:extLst>
                </a:gridCol>
                <a:gridCol w="1424132">
                  <a:extLst>
                    <a:ext uri="{9D8B030D-6E8A-4147-A177-3AD203B41FA5}">
                      <a16:colId xmlns:a16="http://schemas.microsoft.com/office/drawing/2014/main" val="2810693321"/>
                    </a:ext>
                  </a:extLst>
                </a:gridCol>
                <a:gridCol w="1424132">
                  <a:extLst>
                    <a:ext uri="{9D8B030D-6E8A-4147-A177-3AD203B41FA5}">
                      <a16:colId xmlns:a16="http://schemas.microsoft.com/office/drawing/2014/main" val="808856372"/>
                    </a:ext>
                  </a:extLst>
                </a:gridCol>
                <a:gridCol w="1424132">
                  <a:extLst>
                    <a:ext uri="{9D8B030D-6E8A-4147-A177-3AD203B41FA5}">
                      <a16:colId xmlns:a16="http://schemas.microsoft.com/office/drawing/2014/main" val="3725962483"/>
                    </a:ext>
                  </a:extLst>
                </a:gridCol>
                <a:gridCol w="1424132">
                  <a:extLst>
                    <a:ext uri="{9D8B030D-6E8A-4147-A177-3AD203B41FA5}">
                      <a16:colId xmlns:a16="http://schemas.microsoft.com/office/drawing/2014/main" val="3890563934"/>
                    </a:ext>
                  </a:extLst>
                </a:gridCol>
                <a:gridCol w="1424132">
                  <a:extLst>
                    <a:ext uri="{9D8B030D-6E8A-4147-A177-3AD203B41FA5}">
                      <a16:colId xmlns:a16="http://schemas.microsoft.com/office/drawing/2014/main" val="637575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Persona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Total Number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Percentage of Sample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Percent Members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Percent Local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Avg. Subareas Skipped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CA" sz="1400" dirty="0">
                          <a:effectLst/>
                        </a:rPr>
                        <a:t>Percent Recommended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79080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A" sz="1200" b="0">
                          <a:effectLst/>
                        </a:rPr>
                        <a:t>Smooth Visit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3094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41.14%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51.26%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70.24%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5.62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94.39%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75056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A" sz="1200" b="0">
                          <a:effectLst/>
                        </a:rPr>
                        <a:t>Value-Sensitive, Low Engagement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1454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19.34%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43.48%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69.91%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6.00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50.63%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6404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A" sz="1200" b="0">
                          <a:effectLst/>
                        </a:rPr>
                        <a:t>Engaged but Frustrated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2010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26.72%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37.06%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61.97%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5.35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58.75%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335383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CA" sz="1200" b="0">
                          <a:effectLst/>
                        </a:rPr>
                        <a:t>High-Friction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963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12.80%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23.42%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58.57%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4.08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13.79%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95512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73176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16410</TotalTime>
  <Words>1563</Words>
  <Application>Microsoft Office PowerPoint</Application>
  <PresentationFormat>Widescreen</PresentationFormat>
  <Paragraphs>234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Wingdings 2</vt:lpstr>
      <vt:lpstr>View</vt:lpstr>
      <vt:lpstr>Toronto Zoo Visitor Experience Insights</vt:lpstr>
      <vt:lpstr>Outline</vt:lpstr>
      <vt:lpstr>Key Takeaways </vt:lpstr>
      <vt:lpstr>Extracting Top Themes of Customer Dissatisfaction </vt:lpstr>
      <vt:lpstr>Complaint Themes: </vt:lpstr>
      <vt:lpstr>Identifying Popular Pain Points</vt:lpstr>
      <vt:lpstr>Pain Points: Complaint Themes</vt:lpstr>
      <vt:lpstr>Pain Points: Complaint Themes</vt:lpstr>
      <vt:lpstr>Pain Points: Zoo Sub-Areas</vt:lpstr>
      <vt:lpstr>Pain Points: Zoo Sub-Areas</vt:lpstr>
      <vt:lpstr>Pain Points: Global Satisfaction Areas</vt:lpstr>
      <vt:lpstr>Pain Points: Global Satisfaction Areas</vt:lpstr>
      <vt:lpstr>Pain Points: Summary</vt:lpstr>
      <vt:lpstr>Pinpointing Areas of Improvement</vt:lpstr>
      <vt:lpstr>Areas of Improvement: Complaint Themes</vt:lpstr>
      <vt:lpstr>Areas of Improvement: Complaint Themes</vt:lpstr>
      <vt:lpstr>Areas of Improvement: Zoo Subareas</vt:lpstr>
      <vt:lpstr>Areas of Improvement: Zoo Subareas</vt:lpstr>
      <vt:lpstr>Areas of Improvement: Global Satisfaction</vt:lpstr>
      <vt:lpstr>Areas of Improvement: Global Satisfaction</vt:lpstr>
      <vt:lpstr>Areas of Improvement: Summary</vt:lpstr>
      <vt:lpstr>Segmenting Customers into Distinct Personas</vt:lpstr>
      <vt:lpstr>Customer Segmentation</vt:lpstr>
      <vt:lpstr>Customer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Wheeler</dc:creator>
  <cp:lastModifiedBy>Nathan Wheeler</cp:lastModifiedBy>
  <cp:revision>38</cp:revision>
  <dcterms:created xsi:type="dcterms:W3CDTF">2025-07-28T20:21:11Z</dcterms:created>
  <dcterms:modified xsi:type="dcterms:W3CDTF">2026-03-04T20:35:32Z</dcterms:modified>
</cp:coreProperties>
</file>